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4"/>
    <p:sldMasterId id="2147483712" r:id="rId5"/>
  </p:sldMasterIdLst>
  <p:notesMasterIdLst>
    <p:notesMasterId r:id="rId10"/>
  </p:notesMasterIdLst>
  <p:sldIdLst>
    <p:sldId id="9894" r:id="rId6"/>
    <p:sldId id="10011" r:id="rId7"/>
    <p:sldId id="9959" r:id="rId8"/>
    <p:sldId id="997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72EFBF3-93EA-470E-BE23-BEDA3FB6AF2F}">
          <p14:sldIdLst>
            <p14:sldId id="9894"/>
            <p14:sldId id="10011"/>
            <p14:sldId id="9959"/>
            <p14:sldId id="99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CC"/>
    <a:srgbClr val="FFE38B"/>
    <a:srgbClr val="CCFFCC"/>
    <a:srgbClr val="FFD13F"/>
    <a:srgbClr val="FFFF93"/>
    <a:srgbClr val="FFFFD1"/>
    <a:srgbClr val="FFFFFF"/>
    <a:srgbClr val="FFFF99"/>
    <a:srgbClr val="FF6600"/>
    <a:srgbClr val="0A48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53F32D-E1D5-4F4E-A364-1ACBFEB5F665}" v="20" dt="2026-04-26T06:20:17.9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0" d="100"/>
          <a:sy n="60" d="100"/>
        </p:scale>
        <p:origin x="884" y="48"/>
      </p:cViewPr>
      <p:guideLst>
        <p:guide orient="horz" pos="288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CC50D9-474C-438B-9FBD-420DC7F5C013}" type="datetimeFigureOut">
              <a:rPr lang="en-US"/>
              <a:t>4/25/2026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F45D9-A0FD-4DB1-A827-664E10274384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420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0B4090-A574-4983-8CA0-0B1804DEF096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00414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775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4518853-44CE-4291-8AAC-0847FBFB892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4/25/2026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646A357-6EE4-43E2-A2A2-B439DE617B4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6417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0653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991F5075-0231-4AF9-8895-560D1F89B6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13667" y="6459538"/>
            <a:ext cx="4114800" cy="252412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A070285-E2D1-41E6-82AB-5720D3B81F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92989" y="6397632"/>
            <a:ext cx="503767" cy="365125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>
              <a:defRPr sz="1600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fld id="{56ACB8EC-BC60-427E-B1F9-D49F3479D5F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4790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0036" y="267153"/>
            <a:ext cx="10515600" cy="44313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C94DA15-B0D2-48F0-9231-955E97BC40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13667" y="6459538"/>
            <a:ext cx="4114800" cy="252412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FAE89FD-5313-4E32-9FB5-3604BF17BF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92989" y="6397632"/>
            <a:ext cx="503767" cy="365125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>
              <a:defRPr sz="1600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fld id="{56ACB8EC-BC60-427E-B1F9-D49F3479D5F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697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9549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69DD1E58-0715-476F-D216-5EFFBBBD7397}"/>
              </a:ext>
            </a:extLst>
          </p:cNvPr>
          <p:cNvSpPr txBox="1">
            <a:spLocks/>
          </p:cNvSpPr>
          <p:nvPr userDrawn="1"/>
        </p:nvSpPr>
        <p:spPr>
          <a:xfrm>
            <a:off x="10107561" y="6341806"/>
            <a:ext cx="1858297" cy="372404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>
                <a:solidFill>
                  <a:schemeClr val="accent6"/>
                </a:solidFill>
                <a:latin typeface="Tahoma" panose="020B0604030504040204" pitchFamily="34" charset="0"/>
              </a:rPr>
              <a:t>© 2025 Prolifics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DD376AE-08E2-DDFA-5B94-63E0F5589799}"/>
              </a:ext>
            </a:extLst>
          </p:cNvPr>
          <p:cNvGrpSpPr/>
          <p:nvPr userDrawn="1"/>
        </p:nvGrpSpPr>
        <p:grpSpPr>
          <a:xfrm>
            <a:off x="0" y="199"/>
            <a:ext cx="383458" cy="6857801"/>
            <a:chOff x="0" y="199"/>
            <a:chExt cx="383458" cy="6857801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FE0370B-E798-E491-2494-B81BDCCBDF68}"/>
                </a:ext>
              </a:extLst>
            </p:cNvPr>
            <p:cNvSpPr>
              <a:spLocks/>
            </p:cNvSpPr>
            <p:nvPr/>
          </p:nvSpPr>
          <p:spPr>
            <a:xfrm rot="10800000">
              <a:off x="0" y="199"/>
              <a:ext cx="383457" cy="1371560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199">
                <a:latin typeface="Tahoma" panose="020B060403050404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4496C7D-50AE-1A11-5A7E-3278352473AC}"/>
                </a:ext>
              </a:extLst>
            </p:cNvPr>
            <p:cNvSpPr>
              <a:spLocks/>
            </p:cNvSpPr>
            <p:nvPr/>
          </p:nvSpPr>
          <p:spPr>
            <a:xfrm rot="10800000">
              <a:off x="1" y="1371759"/>
              <a:ext cx="383457" cy="1371560"/>
            </a:xfrm>
            <a:prstGeom prst="rect">
              <a:avLst/>
            </a:prstGeom>
            <a:solidFill>
              <a:srgbClr val="006699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199">
                <a:latin typeface="Tahoma" panose="020B060403050404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542B8C8-349E-A5CD-D28D-B840EC4D6FB4}"/>
                </a:ext>
              </a:extLst>
            </p:cNvPr>
            <p:cNvSpPr>
              <a:spLocks/>
            </p:cNvSpPr>
            <p:nvPr/>
          </p:nvSpPr>
          <p:spPr>
            <a:xfrm rot="10800000">
              <a:off x="1" y="2743319"/>
              <a:ext cx="383457" cy="1371560"/>
            </a:xfrm>
            <a:prstGeom prst="rect">
              <a:avLst/>
            </a:prstGeom>
            <a:solidFill>
              <a:srgbClr val="1799CE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199">
                <a:latin typeface="Tahoma" panose="020B060403050404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9966E1-FC36-B4B9-81F4-8E2DB8D4BD05}"/>
                </a:ext>
              </a:extLst>
            </p:cNvPr>
            <p:cNvSpPr>
              <a:spLocks/>
            </p:cNvSpPr>
            <p:nvPr/>
          </p:nvSpPr>
          <p:spPr>
            <a:xfrm rot="10800000">
              <a:off x="1" y="5486440"/>
              <a:ext cx="383457" cy="1371560"/>
            </a:xfrm>
            <a:prstGeom prst="rect">
              <a:avLst/>
            </a:prstGeom>
            <a:solidFill>
              <a:srgbClr val="F89939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199">
                <a:latin typeface="Tahoma" panose="020B060403050404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4C4A192-65F0-6323-3261-28D2061F0DC4}"/>
                </a:ext>
              </a:extLst>
            </p:cNvPr>
            <p:cNvSpPr>
              <a:spLocks/>
            </p:cNvSpPr>
            <p:nvPr/>
          </p:nvSpPr>
          <p:spPr>
            <a:xfrm rot="10800000">
              <a:off x="1" y="4114880"/>
              <a:ext cx="383457" cy="1371560"/>
            </a:xfrm>
            <a:prstGeom prst="rect">
              <a:avLst/>
            </a:prstGeom>
            <a:solidFill>
              <a:srgbClr val="98CD67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199">
                <a:latin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42533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4" r:id="rId4"/>
    <p:sldLayoutId id="214748371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69DD1E58-0715-476F-D216-5EFFBBBD7397}"/>
              </a:ext>
            </a:extLst>
          </p:cNvPr>
          <p:cNvSpPr txBox="1">
            <a:spLocks/>
          </p:cNvSpPr>
          <p:nvPr userDrawn="1"/>
        </p:nvSpPr>
        <p:spPr>
          <a:xfrm>
            <a:off x="10107561" y="6341806"/>
            <a:ext cx="1858297" cy="372404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>
                <a:solidFill>
                  <a:schemeClr val="accent6"/>
                </a:solidFill>
                <a:latin typeface="Tahoma" panose="020B0604030504040204" pitchFamily="34" charset="0"/>
              </a:rPr>
              <a:t>© 2025 Prolifics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DD376AE-08E2-DDFA-5B94-63E0F5589799}"/>
              </a:ext>
            </a:extLst>
          </p:cNvPr>
          <p:cNvGrpSpPr/>
          <p:nvPr userDrawn="1"/>
        </p:nvGrpSpPr>
        <p:grpSpPr>
          <a:xfrm>
            <a:off x="0" y="199"/>
            <a:ext cx="383458" cy="6857801"/>
            <a:chOff x="0" y="199"/>
            <a:chExt cx="383458" cy="6857801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FE0370B-E798-E491-2494-B81BDCCBDF68}"/>
                </a:ext>
              </a:extLst>
            </p:cNvPr>
            <p:cNvSpPr>
              <a:spLocks/>
            </p:cNvSpPr>
            <p:nvPr/>
          </p:nvSpPr>
          <p:spPr>
            <a:xfrm rot="10800000">
              <a:off x="0" y="199"/>
              <a:ext cx="383457" cy="1371560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199">
                <a:latin typeface="Tahoma" panose="020B060403050404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4496C7D-50AE-1A11-5A7E-3278352473AC}"/>
                </a:ext>
              </a:extLst>
            </p:cNvPr>
            <p:cNvSpPr>
              <a:spLocks/>
            </p:cNvSpPr>
            <p:nvPr/>
          </p:nvSpPr>
          <p:spPr>
            <a:xfrm rot="10800000">
              <a:off x="1" y="1371759"/>
              <a:ext cx="383457" cy="1371560"/>
            </a:xfrm>
            <a:prstGeom prst="rect">
              <a:avLst/>
            </a:prstGeom>
            <a:solidFill>
              <a:srgbClr val="006699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199">
                <a:latin typeface="Tahoma" panose="020B060403050404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542B8C8-349E-A5CD-D28D-B840EC4D6FB4}"/>
                </a:ext>
              </a:extLst>
            </p:cNvPr>
            <p:cNvSpPr>
              <a:spLocks/>
            </p:cNvSpPr>
            <p:nvPr/>
          </p:nvSpPr>
          <p:spPr>
            <a:xfrm rot="10800000">
              <a:off x="1" y="2743319"/>
              <a:ext cx="383457" cy="1371560"/>
            </a:xfrm>
            <a:prstGeom prst="rect">
              <a:avLst/>
            </a:prstGeom>
            <a:solidFill>
              <a:srgbClr val="1799CE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199">
                <a:latin typeface="Tahoma" panose="020B060403050404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9966E1-FC36-B4B9-81F4-8E2DB8D4BD05}"/>
                </a:ext>
              </a:extLst>
            </p:cNvPr>
            <p:cNvSpPr>
              <a:spLocks/>
            </p:cNvSpPr>
            <p:nvPr/>
          </p:nvSpPr>
          <p:spPr>
            <a:xfrm rot="10800000">
              <a:off x="1" y="5486440"/>
              <a:ext cx="383457" cy="1371560"/>
            </a:xfrm>
            <a:prstGeom prst="rect">
              <a:avLst/>
            </a:prstGeom>
            <a:solidFill>
              <a:srgbClr val="F89939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199">
                <a:latin typeface="Tahoma" panose="020B060403050404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4C4A192-65F0-6323-3261-28D2061F0DC4}"/>
                </a:ext>
              </a:extLst>
            </p:cNvPr>
            <p:cNvSpPr>
              <a:spLocks/>
            </p:cNvSpPr>
            <p:nvPr/>
          </p:nvSpPr>
          <p:spPr>
            <a:xfrm rot="10800000">
              <a:off x="1" y="4114880"/>
              <a:ext cx="383457" cy="1371560"/>
            </a:xfrm>
            <a:prstGeom prst="rect">
              <a:avLst/>
            </a:prstGeom>
            <a:solidFill>
              <a:srgbClr val="98CD67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199">
                <a:latin typeface="Tahoma" panose="020B0604030504040204" pitchFamily="34" charset="0"/>
              </a:endParaRPr>
            </a:p>
          </p:txBody>
        </p:sp>
      </p:grpSp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EE3063F9-47E5-7CE6-3E52-0DC0A55D6A0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3938" y="-1"/>
            <a:ext cx="6148177" cy="5973513"/>
          </a:xfrm>
          <a:prstGeom prst="rect">
            <a:avLst/>
          </a:prstGeom>
        </p:spPr>
      </p:pic>
      <p:pic>
        <p:nvPicPr>
          <p:cNvPr id="7" name="Picture 6" descr="A planet in space&#10;&#10;Description automatically generated with low confidence">
            <a:extLst>
              <a:ext uri="{FF2B5EF4-FFF2-40B4-BE49-F238E27FC236}">
                <a16:creationId xmlns:a16="http://schemas.microsoft.com/office/drawing/2014/main" id="{403FDE4A-CC93-BEF7-2EA7-FF4668CD220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457" y="3431787"/>
            <a:ext cx="3672727" cy="3672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043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1ED3DEC-E729-4F90-AE10-B9544A100EC5}"/>
              </a:ext>
            </a:extLst>
          </p:cNvPr>
          <p:cNvSpPr/>
          <p:nvPr/>
        </p:nvSpPr>
        <p:spPr>
          <a:xfrm>
            <a:off x="5976594" y="20020"/>
            <a:ext cx="6215406" cy="6858000"/>
          </a:xfrm>
          <a:prstGeom prst="rect">
            <a:avLst/>
          </a:prstGeom>
          <a:solidFill>
            <a:srgbClr val="1343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7CB4E7-7CBD-412D-AE55-3B955CB70D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3099" y="1485900"/>
            <a:ext cx="5147835" cy="433635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968D928-4312-4601-A596-EFE16BB2E97A}"/>
              </a:ext>
            </a:extLst>
          </p:cNvPr>
          <p:cNvSpPr txBox="1"/>
          <p:nvPr/>
        </p:nvSpPr>
        <p:spPr>
          <a:xfrm>
            <a:off x="6740165" y="5822253"/>
            <a:ext cx="5284979" cy="10157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8000"/>
              </a:lnSpc>
            </a:pPr>
            <a:r>
              <a:rPr lang="en-US" sz="3600" b="1">
                <a:solidFill>
                  <a:schemeClr val="bg1"/>
                </a:solidFill>
                <a:latin typeface="Baskerville Old Face" panose="02020602080505020303" pitchFamily="18" charset="0"/>
              </a:rPr>
              <a:t>Vision to Value. </a:t>
            </a:r>
            <a:r>
              <a:rPr lang="en-US" sz="3600" b="1">
                <a:solidFill>
                  <a:srgbClr val="66CCCC"/>
                </a:solidFill>
                <a:latin typeface="Baskerville Old Face" panose="02020602080505020303" pitchFamily="18" charset="0"/>
              </a:rPr>
              <a:t>Faster</a:t>
            </a:r>
            <a:r>
              <a:rPr lang="en-US" sz="4400" b="1">
                <a:solidFill>
                  <a:srgbClr val="66CCCC"/>
                </a:solidFill>
                <a:latin typeface="Baskerville Old Face" panose="02020602080505020303" pitchFamily="18" charset="0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FD91D5-81D3-4106-A13F-885C2E7B689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399" y="341052"/>
            <a:ext cx="4828728" cy="73237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B4410B6-18E9-4D3E-AB95-208F74EF9C37}"/>
              </a:ext>
            </a:extLst>
          </p:cNvPr>
          <p:cNvSpPr/>
          <p:nvPr/>
        </p:nvSpPr>
        <p:spPr>
          <a:xfrm>
            <a:off x="5976594" y="1203066"/>
            <a:ext cx="6215406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GB" sz="2800" b="1" dirty="0">
                <a:solidFill>
                  <a:srgbClr val="00B0F0"/>
                </a:solidFill>
                <a:latin typeface="Calibri" panose="020F0502020204030204" pitchFamily="34" charset="0"/>
                <a:ea typeface="Tahoma"/>
                <a:cs typeface="Calibri" panose="020F0502020204030204" pitchFamily="34" charset="0"/>
              </a:rPr>
              <a:t>SWB - Van Delivery Integration</a:t>
            </a:r>
            <a:endParaRPr lang="en-GB" sz="2800" b="1" dirty="0">
              <a:solidFill>
                <a:srgbClr val="00B0F0"/>
              </a:solidFill>
              <a:latin typeface="Calibri" panose="020F0502020204030204" pitchFamily="34" charset="0"/>
              <a:ea typeface="Tahoma" panose="020B0604030504040204" pitchFamily="34" charset="0"/>
              <a:cs typeface="Calibri" panose="020F0502020204030204" pitchFamily="34" charset="0"/>
            </a:endParaRPr>
          </a:p>
          <a:p>
            <a:pPr algn="ctr"/>
            <a:r>
              <a:rPr lang="en-GB" sz="2800" b="1" dirty="0">
                <a:solidFill>
                  <a:schemeClr val="tx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Weekly Project Status Report</a:t>
            </a:r>
          </a:p>
          <a:p>
            <a:pPr algn="ctr"/>
            <a:r>
              <a:rPr lang="en-GB" sz="2800" b="1" dirty="0">
                <a:solidFill>
                  <a:srgbClr val="00B0F0"/>
                </a:solidFill>
                <a:latin typeface="Calibri" panose="020F0502020204030204" pitchFamily="34" charset="0"/>
                <a:ea typeface="Tahoma"/>
                <a:cs typeface="Calibri" panose="020F0502020204030204" pitchFamily="34" charset="0"/>
              </a:rPr>
              <a:t>Date: </a:t>
            </a:r>
            <a:r>
              <a:rPr lang="en-GB" sz="2800" b="1" dirty="0">
                <a:solidFill>
                  <a:schemeClr val="tx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Tahoma"/>
                <a:cs typeface="Calibri" panose="020F0502020204030204" pitchFamily="34" charset="0"/>
              </a:rPr>
              <a:t> </a:t>
            </a:r>
            <a:r>
              <a:rPr lang="en-US" sz="2800" b="1">
                <a:solidFill>
                  <a:schemeClr val="tx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Tahoma"/>
                <a:cs typeface="Calibri" panose="020F0502020204030204" pitchFamily="34" charset="0"/>
              </a:rPr>
              <a:t>08</a:t>
            </a:r>
            <a:r>
              <a:rPr lang="en-US" sz="2800" b="1" baseline="30000">
                <a:solidFill>
                  <a:schemeClr val="tx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Tahoma"/>
                <a:cs typeface="Calibri" panose="020F0502020204030204" pitchFamily="34" charset="0"/>
              </a:rPr>
              <a:t>th</a:t>
            </a:r>
            <a:r>
              <a:rPr lang="en-US" sz="2800" b="1">
                <a:solidFill>
                  <a:schemeClr val="tx1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Tahoma"/>
                <a:cs typeface="Calibri" panose="020F0502020204030204" pitchFamily="34" charset="0"/>
              </a:rPr>
              <a:t> August 2025</a:t>
            </a:r>
            <a:endParaRPr lang="en-GB" sz="2800" b="1" dirty="0">
              <a:solidFill>
                <a:schemeClr val="tx1">
                  <a:lumMod val="20000"/>
                  <a:lumOff val="80000"/>
                </a:schemeClr>
              </a:solidFill>
              <a:latin typeface="Calibri" panose="020F0502020204030204" pitchFamily="34" charset="0"/>
              <a:ea typeface="Tahoma"/>
              <a:cs typeface="Calibri" panose="020F0502020204030204" pitchFamily="34" charset="0"/>
            </a:endParaRPr>
          </a:p>
          <a:p>
            <a:pPr algn="ctr"/>
            <a:r>
              <a:rPr lang="en-GB" sz="2800" b="1" dirty="0">
                <a:solidFill>
                  <a:srgbClr val="00B0F0"/>
                </a:solidFill>
                <a:latin typeface="Calibri"/>
                <a:ea typeface="Tahoma"/>
                <a:cs typeface="Calibri"/>
              </a:rPr>
              <a:t>Author: </a:t>
            </a:r>
            <a:r>
              <a:rPr lang="en-GB" sz="2800" b="1" dirty="0">
                <a:solidFill>
                  <a:schemeClr val="tx1">
                    <a:lumMod val="20000"/>
                    <a:lumOff val="80000"/>
                  </a:schemeClr>
                </a:solidFill>
                <a:latin typeface="Calibri"/>
                <a:ea typeface="Tahoma"/>
                <a:cs typeface="Calibri"/>
              </a:rPr>
              <a:t>Sindhura Kudaravalli</a:t>
            </a:r>
            <a:endParaRPr lang="en-GB" sz="2800" b="1" dirty="0">
              <a:solidFill>
                <a:schemeClr val="tx1">
                  <a:lumMod val="20000"/>
                  <a:lumOff val="80000"/>
                </a:schemeClr>
              </a:solidFill>
              <a:latin typeface="Calibri" panose="020F0502020204030204" pitchFamily="34" charset="0"/>
              <a:ea typeface="Tahoma" panose="020B060403050404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78BCA29-7D2A-6EA5-B184-9BE6F9C2BB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3840436"/>
              </p:ext>
            </p:extLst>
          </p:nvPr>
        </p:nvGraphicFramePr>
        <p:xfrm>
          <a:off x="6507126" y="3558387"/>
          <a:ext cx="5291775" cy="249936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{1E171933-4619-4E11-9A3F-F7608DF75F80}</a:tableStyleId>
              </a:tblPr>
              <a:tblGrid>
                <a:gridCol w="1990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0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4541">
                <a:tc>
                  <a:txBody>
                    <a:bodyPr/>
                    <a:lstStyle/>
                    <a:p>
                      <a:pPr algn="l"/>
                      <a:r>
                        <a:rPr lang="en-GB" sz="1400" b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Distribution: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2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1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solidFill>
                          <a:schemeClr val="tx1"/>
                        </a:solidFill>
                        <a:latin typeface="Calibri"/>
                        <a:ea typeface="Tahoma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SWB - Project Manager</a:t>
                      </a:r>
                      <a:endParaRPr lang="en-IN" sz="1800" b="0" i="0" u="none" strike="noStrike" kern="1200" baseline="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813833"/>
                  </a:ext>
                </a:extLst>
              </a:tr>
              <a:tr h="2111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tx1"/>
                        </a:solidFill>
                        <a:latin typeface="Calibri"/>
                        <a:ea typeface="Tahoma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SWB - </a:t>
                      </a:r>
                      <a:r>
                        <a:rPr lang="en-IN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Integration Architect</a:t>
                      </a:r>
                      <a:endParaRPr lang="en-IN" sz="120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1770134"/>
                  </a:ext>
                </a:extLst>
              </a:tr>
              <a:tr h="2111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>
                        <a:solidFill>
                          <a:schemeClr val="tx1"/>
                        </a:solidFill>
                        <a:latin typeface="Calibri"/>
                        <a:ea typeface="Tahoma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SWB - Lead Architect</a:t>
                      </a:r>
                      <a:endParaRPr lang="en-IN" sz="120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114300" marR="114300" marT="0" marB="0" anchor="ctr"/>
                </a:tc>
                <a:extLst>
                  <a:ext uri="{0D108BD9-81ED-4DB2-BD59-A6C34878D82A}">
                    <a16:rowId xmlns:a16="http://schemas.microsoft.com/office/drawing/2014/main" val="2135365953"/>
                  </a:ext>
                </a:extLst>
              </a:tr>
              <a:tr h="211176"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/>
                        </a:solidFill>
                        <a:latin typeface="Calibri"/>
                        <a:ea typeface="Tahoma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Prolifics Senior Technical Architect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5035962"/>
                  </a:ext>
                </a:extLst>
              </a:tr>
              <a:tr h="211176"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/>
                        </a:solidFill>
                        <a:latin typeface="Calibri"/>
                        <a:ea typeface="Tahoma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Prolifics Technical Lead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3325233"/>
                  </a:ext>
                </a:extLst>
              </a:tr>
              <a:tr h="211176"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/>
                        </a:solidFill>
                        <a:latin typeface="Calibri"/>
                        <a:ea typeface="Tahoma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Prolifics Account Executive</a:t>
                      </a:r>
                      <a:endParaRPr lang="en-GB" sz="12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4357966"/>
                  </a:ext>
                </a:extLst>
              </a:tr>
              <a:tr h="211176"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  <a:latin typeface="Calibri"/>
                        <a:ea typeface="Tahoma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20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Prolifics Technology Manager &amp; CSL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0806167"/>
                  </a:ext>
                </a:extLst>
              </a:tr>
              <a:tr h="211176"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/>
                        </a:solidFill>
                        <a:latin typeface="Calibri"/>
                        <a:ea typeface="Tahoma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20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Prolifics Delivery Partner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83219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1764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C0201AFB-85A0-4E16-A06E-F6F64ADBD4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8713059"/>
              </p:ext>
            </p:extLst>
          </p:nvPr>
        </p:nvGraphicFramePr>
        <p:xfrm>
          <a:off x="542097" y="1148557"/>
          <a:ext cx="5897387" cy="423906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{22838BEF-8BB2-4498-84A7-C5851F593DF1}</a:tableStyleId>
              </a:tblPr>
              <a:tblGrid>
                <a:gridCol w="5897387">
                  <a:extLst>
                    <a:ext uri="{9D8B030D-6E8A-4147-A177-3AD203B41FA5}">
                      <a16:colId xmlns:a16="http://schemas.microsoft.com/office/drawing/2014/main" val="389837208"/>
                    </a:ext>
                  </a:extLst>
                </a:gridCol>
              </a:tblGrid>
              <a:tr h="423906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i="0" u="none" strike="noStrike" kern="1200" noProof="0" dirty="0">
                          <a:solidFill>
                            <a:srgbClr val="000000"/>
                          </a:solidFill>
                          <a:latin typeface="Calibri"/>
                        </a:rPr>
                        <a:t>Overall Project Status is </a:t>
                      </a:r>
                      <a:endParaRPr lang="en-IN" sz="1400" b="1" i="0" u="none" strike="noStrike" kern="1200" noProof="0" dirty="0">
                        <a:solidFill>
                          <a:srgbClr val="FFC000"/>
                        </a:solidFill>
                        <a:latin typeface="Calibri"/>
                      </a:endParaRPr>
                    </a:p>
                    <a:p>
                      <a:pPr lvl="0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N" sz="1400" b="1" u="sng" kern="120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latin typeface="Calibri"/>
                          <a:ea typeface="Tahoma"/>
                          <a:cs typeface="Calibri"/>
                        </a:rPr>
                        <a:t>Why ?: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sng" strike="noStrike" kern="1200" noProof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</a:rPr>
                        <a:t>Summary Project Status :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sng" strike="noStrike" kern="1200" noProof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latin typeface="Tahoma"/>
                          <a:ea typeface="Tahoma"/>
                          <a:cs typeface="Tahoma"/>
                        </a:rPr>
                        <a:t>Planned for Next week:</a:t>
                      </a:r>
                      <a:endParaRPr lang="en-IN" u="sng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sng" strike="noStrike" kern="1200" noProof="0">
                          <a:solidFill>
                            <a:schemeClr val="accent5">
                              <a:lumMod val="40000"/>
                              <a:lumOff val="60000"/>
                            </a:schemeClr>
                          </a:solidFill>
                          <a:latin typeface="Tahoma"/>
                          <a:ea typeface="Tahoma"/>
                          <a:cs typeface="Tahoma"/>
                        </a:rPr>
                        <a:t>Financial Summary :</a:t>
                      </a:r>
                      <a:endParaRPr lang="en-IN" u="sng"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400" b="0" i="0" u="none" strike="noStrike" kern="1200" noProof="0" dirty="0">
                        <a:solidFill>
                          <a:srgbClr val="FFC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5151338"/>
              </p:ext>
            </p:extLst>
          </p:nvPr>
        </p:nvGraphicFramePr>
        <p:xfrm>
          <a:off x="6662057" y="1105904"/>
          <a:ext cx="5185993" cy="398787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{1E171933-4619-4E11-9A3F-F7608DF75F80}</a:tableStyleId>
              </a:tblPr>
              <a:tblGrid>
                <a:gridCol w="25844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15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8787">
                <a:tc>
                  <a:txBody>
                    <a:bodyPr/>
                    <a:lstStyle/>
                    <a:p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Calibri"/>
                          <a:ea typeface="Tahoma"/>
                          <a:cs typeface="Calibri"/>
                        </a:rPr>
                        <a:t>Project Start Date:</a:t>
                      </a:r>
                      <a:endParaRPr lang="en-GB" sz="1400" b="1" kern="1200" dirty="0">
                        <a:solidFill>
                          <a:schemeClr val="bg1"/>
                        </a:solidFill>
                        <a:latin typeface="Calibri"/>
                        <a:ea typeface="Tahoma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400" kern="1200" dirty="0">
                        <a:solidFill>
                          <a:schemeClr val="bg1"/>
                        </a:solidFill>
                        <a:latin typeface="Calibri"/>
                        <a:ea typeface="Tahoma"/>
                        <a:cs typeface="Calibr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2F291133-F737-07AF-7A30-1A8FE16AE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6066745"/>
              </p:ext>
            </p:extLst>
          </p:nvPr>
        </p:nvGraphicFramePr>
        <p:xfrm>
          <a:off x="6662057" y="1588567"/>
          <a:ext cx="5185993" cy="560535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{1E171933-4619-4E11-9A3F-F7608DF75F80}</a:tableStyleId>
              </a:tblPr>
              <a:tblGrid>
                <a:gridCol w="25844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15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053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Tahoma" panose="020B0604030504040204" pitchFamily="34" charset="0"/>
                          <a:cs typeface="Calibri" panose="020F0502020204030204" pitchFamily="34" charset="0"/>
                        </a:rPr>
                        <a:t>SWB Head of Customer Solutions:</a:t>
                      </a:r>
                      <a:endParaRPr lang="en-GB" sz="14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400" dirty="0">
                        <a:solidFill>
                          <a:schemeClr val="bg1"/>
                        </a:solidFill>
                        <a:latin typeface="Calibri"/>
                        <a:ea typeface="Tahoma"/>
                        <a:cs typeface="Calibr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352607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A680C4D-2CC9-6557-C193-DFAFFDADFA0A}"/>
              </a:ext>
            </a:extLst>
          </p:cNvPr>
          <p:cNvSpPr txBox="1"/>
          <p:nvPr/>
        </p:nvSpPr>
        <p:spPr>
          <a:xfrm>
            <a:off x="7024434" y="5526794"/>
            <a:ext cx="39746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*See Milestones , Issues &amp; Risks sections for further details.</a:t>
            </a:r>
            <a:endParaRPr lang="en-GB" sz="1100" i="1" dirty="0"/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709F1C5C-E037-C2B6-699D-2436122150CB}"/>
              </a:ext>
            </a:extLst>
          </p:cNvPr>
          <p:cNvSpPr/>
          <p:nvPr/>
        </p:nvSpPr>
        <p:spPr>
          <a:xfrm>
            <a:off x="7693013" y="489692"/>
            <a:ext cx="165423" cy="149673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98B87510-3EE4-7FB9-7A27-F271E43DE4F4}"/>
              </a:ext>
            </a:extLst>
          </p:cNvPr>
          <p:cNvSpPr/>
          <p:nvPr/>
        </p:nvSpPr>
        <p:spPr>
          <a:xfrm>
            <a:off x="7693014" y="697442"/>
            <a:ext cx="165423" cy="155074"/>
          </a:xfrm>
          <a:prstGeom prst="flowChartConnector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</a:t>
            </a:r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D5A5EE4B-F61E-2A3C-7EAC-D653EFA842C1}"/>
              </a:ext>
            </a:extLst>
          </p:cNvPr>
          <p:cNvSpPr/>
          <p:nvPr/>
        </p:nvSpPr>
        <p:spPr>
          <a:xfrm>
            <a:off x="7693013" y="281671"/>
            <a:ext cx="165423" cy="155074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</a:p>
        </p:txBody>
      </p:sp>
      <p:sp>
        <p:nvSpPr>
          <p:cNvPr id="15" name="TextBox 1">
            <a:extLst>
              <a:ext uri="{FF2B5EF4-FFF2-40B4-BE49-F238E27FC236}">
                <a16:creationId xmlns:a16="http://schemas.microsoft.com/office/drawing/2014/main" id="{DD695A9B-357F-68B5-6884-15935DCC49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437" y="209041"/>
            <a:ext cx="3989614" cy="804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15000"/>
              </a:spcBef>
              <a:spcAft>
                <a:spcPct val="30000"/>
              </a:spcAft>
              <a:buChar char="•"/>
              <a:defRPr sz="1000" b="1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15000"/>
              </a:spcBef>
              <a:spcAft>
                <a:spcPct val="30000"/>
              </a:spcAft>
              <a:buClr>
                <a:schemeClr val="tx2"/>
              </a:buClr>
              <a:buSzPct val="70000"/>
              <a:buChar char="–"/>
              <a:defRPr sz="10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15000"/>
              </a:spcBef>
              <a:spcAft>
                <a:spcPct val="30000"/>
              </a:spcAft>
              <a:buClr>
                <a:schemeClr val="tx2"/>
              </a:buClr>
              <a:buSzPct val="70000"/>
              <a:buChar char="–"/>
              <a:defRPr sz="10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15000"/>
              </a:spcBef>
              <a:spcAft>
                <a:spcPct val="30000"/>
              </a:spcAft>
              <a:buClr>
                <a:schemeClr val="tx2"/>
              </a:buClr>
              <a:buSzPct val="70000"/>
              <a:buChar char="–"/>
              <a:defRPr sz="10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15000"/>
              </a:spcBef>
              <a:spcAft>
                <a:spcPct val="30000"/>
              </a:spcAft>
              <a:buClr>
                <a:schemeClr val="tx2"/>
              </a:buClr>
              <a:buSzPct val="70000"/>
              <a:buFont typeface="Wingdings" pitchFamily="2" charset="2"/>
              <a:buChar char="Ø"/>
              <a:defRPr sz="10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30000"/>
              </a:spcAft>
              <a:buClr>
                <a:schemeClr val="tx2"/>
              </a:buClr>
              <a:buSzPct val="70000"/>
              <a:buFont typeface="Wingdings" pitchFamily="2" charset="2"/>
              <a:buChar char="Ø"/>
              <a:defRPr sz="10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30000"/>
              </a:spcAft>
              <a:buClr>
                <a:schemeClr val="tx2"/>
              </a:buClr>
              <a:buSzPct val="70000"/>
              <a:buFont typeface="Wingdings" pitchFamily="2" charset="2"/>
              <a:buChar char="Ø"/>
              <a:defRPr sz="10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30000"/>
              </a:spcAft>
              <a:buClr>
                <a:schemeClr val="tx2"/>
              </a:buClr>
              <a:buSzPct val="70000"/>
              <a:buFont typeface="Wingdings" pitchFamily="2" charset="2"/>
              <a:buChar char="Ø"/>
              <a:defRPr sz="10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30000"/>
              </a:spcAft>
              <a:buClr>
                <a:schemeClr val="tx2"/>
              </a:buClr>
              <a:buSzPct val="70000"/>
              <a:buFont typeface="Wingdings" pitchFamily="2" charset="2"/>
              <a:buChar char="Ø"/>
              <a:defRPr sz="1000"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IE" altLang="en-US" sz="85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Red:      </a:t>
            </a:r>
            <a:r>
              <a:rPr lang="en-IE" altLang="en-US" sz="850">
                <a:solidFill>
                  <a:srgbClr val="63636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Project at risk with no agreed plan to recover/mitigate</a:t>
            </a:r>
          </a:p>
          <a:p>
            <a:pPr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IE" altLang="en-US" sz="850">
                <a:solidFill>
                  <a:srgbClr val="FFC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Amber: </a:t>
            </a:r>
            <a:r>
              <a:rPr lang="en-IE" altLang="en-US" sz="850">
                <a:solidFill>
                  <a:srgbClr val="63636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Project at risk with agreed plan in place to recover/mitigate</a:t>
            </a:r>
          </a:p>
          <a:p>
            <a:pPr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IE" altLang="en-US" sz="85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Green:  </a:t>
            </a:r>
            <a:r>
              <a:rPr lang="en-IE" altLang="en-US" sz="850">
                <a:solidFill>
                  <a:srgbClr val="63636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Project on track to time, budget and quality.</a:t>
            </a:r>
            <a:r>
              <a:rPr lang="en-IE" altLang="en-US" sz="800">
                <a:solidFill>
                  <a:srgbClr val="63636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  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IE" altLang="en-US" sz="800">
              <a:solidFill>
                <a:srgbClr val="B6BF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0BBA245-C8DC-0FFD-5864-979893011C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9872977"/>
              </p:ext>
            </p:extLst>
          </p:nvPr>
        </p:nvGraphicFramePr>
        <p:xfrm>
          <a:off x="6662057" y="2250317"/>
          <a:ext cx="5175140" cy="3112038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{1E171933-4619-4E11-9A3F-F7608DF75F80}</a:tableStyleId>
              </a:tblPr>
              <a:tblGrid>
                <a:gridCol w="1599441">
                  <a:extLst>
                    <a:ext uri="{9D8B030D-6E8A-4147-A177-3AD203B41FA5}">
                      <a16:colId xmlns:a16="http://schemas.microsoft.com/office/drawing/2014/main" val="3662551010"/>
                    </a:ext>
                  </a:extLst>
                </a:gridCol>
                <a:gridCol w="1002574">
                  <a:extLst>
                    <a:ext uri="{9D8B030D-6E8A-4147-A177-3AD203B41FA5}">
                      <a16:colId xmlns:a16="http://schemas.microsoft.com/office/drawing/2014/main" val="1228704566"/>
                    </a:ext>
                  </a:extLst>
                </a:gridCol>
                <a:gridCol w="967047">
                  <a:extLst>
                    <a:ext uri="{9D8B030D-6E8A-4147-A177-3AD203B41FA5}">
                      <a16:colId xmlns:a16="http://schemas.microsoft.com/office/drawing/2014/main" val="3687156073"/>
                    </a:ext>
                  </a:extLst>
                </a:gridCol>
                <a:gridCol w="997857">
                  <a:extLst>
                    <a:ext uri="{9D8B030D-6E8A-4147-A177-3AD203B41FA5}">
                      <a16:colId xmlns:a16="http://schemas.microsoft.com/office/drawing/2014/main" val="1065083446"/>
                    </a:ext>
                  </a:extLst>
                </a:gridCol>
                <a:gridCol w="608221">
                  <a:extLst>
                    <a:ext uri="{9D8B030D-6E8A-4147-A177-3AD203B41FA5}">
                      <a16:colId xmlns:a16="http://schemas.microsoft.com/office/drawing/2014/main" val="3779419363"/>
                    </a:ext>
                  </a:extLst>
                </a:gridCol>
              </a:tblGrid>
              <a:tr h="998157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solidFill>
                            <a:schemeClr val="bg1"/>
                          </a:solidFill>
                          <a:latin typeface="Calibri"/>
                          <a:ea typeface="Tahoma"/>
                          <a:cs typeface="Calibri"/>
                        </a:rPr>
                        <a:t>Key Activities / Milestones 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solidFill>
                            <a:schemeClr val="bg1"/>
                          </a:solidFill>
                          <a:latin typeface="Calibri"/>
                          <a:ea typeface="Tahoma"/>
                          <a:cs typeface="Calibri"/>
                        </a:rPr>
                        <a:t>Milestone Targeted 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solidFill>
                            <a:schemeClr val="bg1"/>
                          </a:solidFill>
                          <a:latin typeface="Calibri"/>
                          <a:ea typeface="Tahoma"/>
                          <a:cs typeface="Calibri"/>
                        </a:rPr>
                        <a:t>Date Achieved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solidFill>
                            <a:schemeClr val="bg1"/>
                          </a:solidFill>
                          <a:latin typeface="Calibri"/>
                          <a:ea typeface="Tahoma"/>
                          <a:cs typeface="Calibri"/>
                        </a:rPr>
                        <a:t>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/>
                          <a:ea typeface="Tahoma"/>
                          <a:cs typeface="Calibri"/>
                        </a:rPr>
                        <a:t>RAG</a:t>
                      </a:r>
                      <a:endParaRPr lang="en-GB" sz="1400" b="1" dirty="0">
                        <a:solidFill>
                          <a:schemeClr val="bg1"/>
                        </a:solidFill>
                        <a:latin typeface="Calibri"/>
                        <a:ea typeface="Tahoma"/>
                        <a:cs typeface="Calibr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0286132"/>
                  </a:ext>
                </a:extLst>
              </a:tr>
              <a:tr h="494182">
                <a:tc>
                  <a:txBody>
                    <a:bodyPr/>
                    <a:lstStyle/>
                    <a:p>
                      <a:pPr algn="l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400" dirty="0">
                        <a:latin typeface="Calibri"/>
                        <a:ea typeface="Tahoma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400" dirty="0"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5266280"/>
                  </a:ext>
                </a:extLst>
              </a:tr>
              <a:tr h="531824">
                <a:tc>
                  <a:txBody>
                    <a:bodyPr/>
                    <a:lstStyle/>
                    <a:p>
                      <a:pPr algn="l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4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Calibri"/>
                        <a:ea typeface="Tahoma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400"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3419938"/>
                  </a:ext>
                </a:extLst>
              </a:tr>
              <a:tr h="499535">
                <a:tc>
                  <a:txBody>
                    <a:bodyPr/>
                    <a:lstStyle/>
                    <a:p>
                      <a:pPr algn="l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buNone/>
                      </a:pPr>
                      <a:endParaRPr lang="en-GB" sz="1400" kern="1200" dirty="0">
                        <a:solidFill>
                          <a:schemeClr val="dk1"/>
                        </a:solidFill>
                        <a:latin typeface="Calibri"/>
                        <a:ea typeface="Tahoma"/>
                        <a:cs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7156298"/>
                  </a:ext>
                </a:extLst>
              </a:tr>
              <a:tr h="588340">
                <a:tc>
                  <a:txBody>
                    <a:bodyPr/>
                    <a:lstStyle/>
                    <a:p>
                      <a:pPr algn="l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buNone/>
                      </a:pPr>
                      <a:endParaRPr lang="en-GB" sz="1400" kern="1200" dirty="0">
                        <a:solidFill>
                          <a:schemeClr val="dk1"/>
                        </a:solidFill>
                        <a:latin typeface="Calibri"/>
                        <a:ea typeface="Tahoma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Tahom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34949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4195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http://autismchalkart.com/wp-content/uploads/2013/10/Thank-you.png">
            <a:extLst>
              <a:ext uri="{FF2B5EF4-FFF2-40B4-BE49-F238E27FC236}">
                <a16:creationId xmlns:a16="http://schemas.microsoft.com/office/drawing/2014/main" id="{12B06955-684B-0558-4569-58B704595B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6399" y="1361831"/>
            <a:ext cx="4561071" cy="3192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5350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342C8-A4B3-AACB-0912-9A52D3AD5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/>
              <a:t>Appendix A – RAG Definitions</a:t>
            </a:r>
            <a:endParaRPr lang="en-GB" sz="2000" b="1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2332E0-5CB2-2003-1BDA-41586DB2D0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6ACB8EC-BC60-427E-B1F9-D49F3479D5F6}" type="slidenum">
              <a:rPr lang="en-US" altLang="en-US" smtClean="0"/>
              <a:pPr/>
              <a:t>4</a:t>
            </a:fld>
            <a:endParaRPr lang="en-US" alt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5B632B0-4F6B-2E51-9F2D-B94B376FCC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7988111"/>
              </p:ext>
            </p:extLst>
          </p:nvPr>
        </p:nvGraphicFramePr>
        <p:xfrm>
          <a:off x="830036" y="1212504"/>
          <a:ext cx="4561114" cy="2134796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{1E171933-4619-4E11-9A3F-F7608DF75F80}</a:tableStyleId>
              </a:tblPr>
              <a:tblGrid>
                <a:gridCol w="868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21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6660">
                <a:tc gridSpan="2">
                  <a:txBody>
                    <a:bodyPr/>
                    <a:lstStyle/>
                    <a:p>
                      <a:pPr algn="l"/>
                      <a:r>
                        <a:rPr lang="en-GB" sz="1200" b="1" dirty="0">
                          <a:solidFill>
                            <a:schemeClr val="bg1"/>
                          </a:solidFill>
                          <a:latin typeface="+mn-lt"/>
                          <a:ea typeface="Tahoma"/>
                          <a:cs typeface="Tahoma"/>
                        </a:rPr>
                        <a:t>Overall Plan RAG Status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sz="1200" b="1">
                        <a:solidFill>
                          <a:schemeClr val="bg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43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+mn-lt"/>
                          <a:ea typeface="Tahoma"/>
                          <a:cs typeface="Tahoma"/>
                        </a:rPr>
                        <a:t>Note:</a:t>
                      </a:r>
                      <a:endParaRPr lang="en-GB" sz="1200" b="1" dirty="0">
                        <a:solidFill>
                          <a:schemeClr val="tx1"/>
                        </a:solidFill>
                        <a:latin typeface="+mn-lt"/>
                        <a:ea typeface="Tahoma"/>
                        <a:cs typeface="Tahom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  <a:ea typeface="Tahoma"/>
                          <a:cs typeface="Tahoma"/>
                        </a:rPr>
                        <a:t>Agreed Plan RAG status indicates overall status of the Project, considering status of Deliverables, Target Milestone dates and Commercial Budget.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46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200" b="1" dirty="0">
                          <a:solidFill>
                            <a:srgbClr val="9C0006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/>
                        </a:rPr>
                        <a:t> RED </a:t>
                      </a:r>
                      <a:endParaRPr lang="en-GB" sz="1200" b="1" dirty="0">
                        <a:effectLst/>
                        <a:latin typeface="+mn-lt"/>
                        <a:ea typeface="Calibri" panose="020F0502020204030204" pitchFamily="34" charset="0"/>
                        <a:cs typeface="Calibri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/>
                        </a:rPr>
                        <a:t> Major issues outstanding, no identified resolution plan. Project progress impacted. </a:t>
                      </a:r>
                      <a:endParaRPr lang="en-GB" sz="1200" dirty="0">
                        <a:effectLst/>
                        <a:latin typeface="+mn-lt"/>
                        <a:ea typeface="Calibri" panose="020F0502020204030204" pitchFamily="34" charset="0"/>
                        <a:cs typeface="Calibri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946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200" b="1" dirty="0">
                          <a:solidFill>
                            <a:srgbClr val="9C65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/>
                        </a:rPr>
                        <a:t> AMBER </a:t>
                      </a:r>
                      <a:endParaRPr lang="en-GB" sz="1200" b="1" dirty="0">
                        <a:effectLst/>
                        <a:latin typeface="+mn-lt"/>
                        <a:ea typeface="Calibri" panose="020F0502020204030204" pitchFamily="34" charset="0"/>
                        <a:cs typeface="Calibri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/>
                        </a:rPr>
                        <a:t> Major issues outstanding, resolution plans in place.  Project progress at risk. </a:t>
                      </a:r>
                      <a:endParaRPr lang="en-GB" sz="1200" dirty="0">
                        <a:effectLst/>
                        <a:latin typeface="+mn-lt"/>
                        <a:ea typeface="Calibri" panose="020F0502020204030204" pitchFamily="34" charset="0"/>
                        <a:cs typeface="Calibri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66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200" b="1" dirty="0">
                          <a:solidFill>
                            <a:srgbClr val="0061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/>
                        </a:rPr>
                        <a:t> GREEN </a:t>
                      </a:r>
                      <a:endParaRPr lang="en-GB" sz="1200" b="1" dirty="0">
                        <a:effectLst/>
                        <a:latin typeface="+mn-lt"/>
                        <a:ea typeface="Calibri" panose="020F0502020204030204" pitchFamily="34" charset="0"/>
                        <a:cs typeface="Calibri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/>
                        </a:rPr>
                        <a:t> Project on track, no major issues impacting progress outstanding.  </a:t>
                      </a:r>
                      <a:endParaRPr lang="en-GB" sz="1200" dirty="0">
                        <a:effectLst/>
                        <a:latin typeface="+mn-lt"/>
                        <a:ea typeface="Calibri" panose="020F0502020204030204" pitchFamily="34" charset="0"/>
                        <a:cs typeface="Calibri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604217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25B1336-13DC-8E37-AABC-8048F9150C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4791131"/>
              </p:ext>
            </p:extLst>
          </p:nvPr>
        </p:nvGraphicFramePr>
        <p:xfrm>
          <a:off x="5849414" y="1859390"/>
          <a:ext cx="5743575" cy="1909504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{1E171933-4619-4E11-9A3F-F7608DF75F80}</a:tableStyleId>
              </a:tblPr>
              <a:tblGrid>
                <a:gridCol w="13579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55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4960">
                <a:tc gridSpan="2">
                  <a:txBody>
                    <a:bodyPr/>
                    <a:lstStyle/>
                    <a:p>
                      <a:pPr algn="l"/>
                      <a:r>
                        <a:rPr lang="en-GB" sz="1200" b="1" dirty="0">
                          <a:solidFill>
                            <a:schemeClr val="bg1"/>
                          </a:solidFill>
                          <a:latin typeface="+mn-lt"/>
                          <a:ea typeface="Tahoma"/>
                          <a:cs typeface="Tahoma"/>
                        </a:rPr>
                        <a:t>Milestone RAG Status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sz="1200" b="1">
                        <a:solidFill>
                          <a:schemeClr val="bg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237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+mn-lt"/>
                          <a:ea typeface="Tahoma"/>
                          <a:cs typeface="Tahoma"/>
                        </a:rPr>
                        <a:t>Note:</a:t>
                      </a:r>
                      <a:endParaRPr lang="en-GB" sz="1200" b="1" dirty="0">
                        <a:solidFill>
                          <a:schemeClr val="tx1"/>
                        </a:solidFill>
                        <a:latin typeface="+mn-lt"/>
                        <a:ea typeface="Tahoma"/>
                        <a:cs typeface="Tahom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200" kern="1200" dirty="0">
                          <a:solidFill>
                            <a:schemeClr val="tx1"/>
                          </a:solidFill>
                          <a:latin typeface="+mn-lt"/>
                          <a:ea typeface="Tahoma"/>
                          <a:cs typeface="Tahoma"/>
                        </a:rPr>
                        <a:t>Project RAG status indicates overall status of the Project, considering status of Deliverables, Target Milestone dates and Commercial Budget.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96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200" b="1" dirty="0">
                          <a:solidFill>
                            <a:srgbClr val="9C0006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/>
                        </a:rPr>
                        <a:t> RED </a:t>
                      </a:r>
                      <a:endParaRPr lang="en-GB" sz="1200" b="1" dirty="0">
                        <a:effectLst/>
                        <a:latin typeface="+mn-lt"/>
                        <a:ea typeface="Calibri" panose="020F0502020204030204" pitchFamily="34" charset="0"/>
                        <a:cs typeface="Calibri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200" kern="1200" dirty="0">
                          <a:solidFill>
                            <a:schemeClr val="tx1"/>
                          </a:solidFill>
                          <a:latin typeface="+mn-lt"/>
                          <a:ea typeface="Tahoma"/>
                          <a:cs typeface="Tahoma"/>
                        </a:rPr>
                        <a:t> Milestone blocked 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96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200" b="1" dirty="0">
                          <a:solidFill>
                            <a:srgbClr val="9C65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/>
                        </a:rPr>
                        <a:t> AMBER </a:t>
                      </a:r>
                      <a:endParaRPr lang="en-GB" sz="1200" b="1" dirty="0">
                        <a:effectLst/>
                        <a:latin typeface="+mn-lt"/>
                        <a:ea typeface="Calibri" panose="020F0502020204030204" pitchFamily="34" charset="0"/>
                        <a:cs typeface="Calibri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200" kern="1200" dirty="0">
                          <a:solidFill>
                            <a:schemeClr val="tx1"/>
                          </a:solidFill>
                          <a:latin typeface="+mn-lt"/>
                          <a:ea typeface="Tahoma"/>
                          <a:cs typeface="Tahoma"/>
                        </a:rPr>
                        <a:t> Milestone at risk 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96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200" b="1" dirty="0">
                          <a:solidFill>
                            <a:srgbClr val="0061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/>
                        </a:rPr>
                        <a:t> GREEN </a:t>
                      </a:r>
                      <a:endParaRPr lang="en-GB" sz="1200" b="1" dirty="0">
                        <a:effectLst/>
                        <a:latin typeface="+mn-lt"/>
                        <a:ea typeface="Calibri" panose="020F0502020204030204" pitchFamily="34" charset="0"/>
                        <a:cs typeface="Calibri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200" kern="1200" dirty="0">
                          <a:solidFill>
                            <a:schemeClr val="tx1"/>
                          </a:solidFill>
                          <a:latin typeface="+mn-lt"/>
                          <a:ea typeface="Tahoma"/>
                          <a:cs typeface="Tahoma"/>
                        </a:rPr>
                        <a:t> Milestone on track or complete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604217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624DF28-92E9-8EC4-93F1-969772E87D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5046692"/>
              </p:ext>
            </p:extLst>
          </p:nvPr>
        </p:nvGraphicFramePr>
        <p:xfrm>
          <a:off x="5849414" y="4043858"/>
          <a:ext cx="5743575" cy="2367374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{1E171933-4619-4E11-9A3F-F7608DF75F80}</a:tableStyleId>
              </a:tblPr>
              <a:tblGrid>
                <a:gridCol w="13579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55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4960">
                <a:tc gridSpan="2">
                  <a:txBody>
                    <a:bodyPr/>
                    <a:lstStyle/>
                    <a:p>
                      <a:pPr algn="l"/>
                      <a:r>
                        <a:rPr lang="en-GB" sz="1200" b="1" dirty="0">
                          <a:solidFill>
                            <a:schemeClr val="bg1"/>
                          </a:solidFill>
                          <a:latin typeface="+mn-lt"/>
                          <a:ea typeface="Tahoma"/>
                          <a:cs typeface="Tahoma"/>
                        </a:rPr>
                        <a:t>Deliverable RAG Status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sz="1200" b="1">
                        <a:solidFill>
                          <a:schemeClr val="bg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237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+mn-lt"/>
                          <a:ea typeface="Tahoma"/>
                          <a:cs typeface="Tahoma"/>
                        </a:rPr>
                        <a:t>Note:</a:t>
                      </a:r>
                      <a:endParaRPr lang="en-GB" sz="1200" b="1" dirty="0">
                        <a:solidFill>
                          <a:schemeClr val="tx1"/>
                        </a:solidFill>
                        <a:latin typeface="+mn-lt"/>
                        <a:ea typeface="Tahoma"/>
                        <a:cs typeface="Tahom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100" kern="1200" dirty="0">
                          <a:solidFill>
                            <a:schemeClr val="tx1"/>
                          </a:solidFill>
                          <a:latin typeface="+mn-lt"/>
                          <a:ea typeface="Tahoma"/>
                          <a:cs typeface="Tahoma"/>
                        </a:rPr>
                        <a:t>Deliverable RAG indicates readiness of an deliverable for formal testing (considering Design Dependencies, Development &amp; Unit-testing progress)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96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200" b="1" dirty="0">
                          <a:solidFill>
                            <a:srgbClr val="9C0006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/>
                        </a:rPr>
                        <a:t> RED </a:t>
                      </a:r>
                      <a:endParaRPr lang="en-GB" sz="1200" b="1" dirty="0">
                        <a:effectLst/>
                        <a:latin typeface="+mn-lt"/>
                        <a:ea typeface="Calibri" panose="020F0502020204030204" pitchFamily="34" charset="0"/>
                        <a:cs typeface="Calibri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/>
                        </a:rPr>
                        <a:t> Dependencies PENDING or ISSUES blocking progress.  Cannot complete Development &amp; Unit Testing by planned date.   </a:t>
                      </a:r>
                      <a:endParaRPr lang="en-GB" sz="1100" dirty="0">
                        <a:effectLst/>
                        <a:latin typeface="+mn-lt"/>
                        <a:ea typeface="Calibri" panose="020F0502020204030204" pitchFamily="34" charset="0"/>
                        <a:cs typeface="Calibri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96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200" b="1" dirty="0">
                          <a:solidFill>
                            <a:srgbClr val="9C65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/>
                        </a:rPr>
                        <a:t> AMBER </a:t>
                      </a:r>
                      <a:endParaRPr lang="en-GB" sz="1200" b="1" dirty="0">
                        <a:effectLst/>
                        <a:latin typeface="+mn-lt"/>
                        <a:ea typeface="Calibri" panose="020F0502020204030204" pitchFamily="34" charset="0"/>
                        <a:cs typeface="Calibri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/>
                        </a:rPr>
                        <a:t> Dependencies PENDING.  Development &amp; Unit-testing IN-PROGRESS but at risk.  OR Dependencies COMPLETE but there are ISSUES needing resolving. </a:t>
                      </a:r>
                      <a:endParaRPr lang="en-GB" sz="1100" dirty="0">
                        <a:effectLst/>
                        <a:latin typeface="+mn-lt"/>
                        <a:ea typeface="Calibri" panose="020F0502020204030204" pitchFamily="34" charset="0"/>
                        <a:cs typeface="Calibri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96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200" b="1" dirty="0">
                          <a:solidFill>
                            <a:srgbClr val="0061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/>
                        </a:rPr>
                        <a:t> GREEN </a:t>
                      </a:r>
                      <a:endParaRPr lang="en-GB" sz="1200" b="1" dirty="0">
                        <a:effectLst/>
                        <a:latin typeface="+mn-lt"/>
                        <a:ea typeface="Calibri" panose="020F0502020204030204" pitchFamily="34" charset="0"/>
                        <a:cs typeface="Calibri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/>
                        </a:rPr>
                        <a:t> Dependencies COMPLETE.  Development &amp; Unit-testing IN-PROGRESS.   No blockers.  OR Deliverable COMPLETE and ready for testing. </a:t>
                      </a:r>
                      <a:endParaRPr lang="en-GB" sz="1100" dirty="0">
                        <a:effectLst/>
                        <a:latin typeface="+mn-lt"/>
                        <a:ea typeface="Calibri" panose="020F0502020204030204" pitchFamily="34" charset="0"/>
                        <a:cs typeface="Calibri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60421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0337130"/>
      </p:ext>
    </p:extLst>
  </p:cSld>
  <p:clrMapOvr>
    <a:masterClrMapping/>
  </p:clrMapOvr>
</p:sld>
</file>

<file path=ppt/theme/theme1.xml><?xml version="1.0" encoding="utf-8"?>
<a:theme xmlns:a="http://schemas.openxmlformats.org/drawingml/2006/main" name="1_Prolifics Brand Theme 2022">
  <a:themeElements>
    <a:clrScheme name="Prolifics Color Pallat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19917"/>
      </a:accent1>
      <a:accent2>
        <a:srgbClr val="73D313"/>
      </a:accent2>
      <a:accent3>
        <a:srgbClr val="A5A5A5"/>
      </a:accent3>
      <a:accent4>
        <a:srgbClr val="00B0F0"/>
      </a:accent4>
      <a:accent5>
        <a:srgbClr val="0070C0"/>
      </a:accent5>
      <a:accent6>
        <a:srgbClr val="002060"/>
      </a:accent6>
      <a:hlink>
        <a:srgbClr val="002060"/>
      </a:hlink>
      <a:folHlink>
        <a:srgbClr val="0070C0"/>
      </a:folHlink>
    </a:clrScheme>
    <a:fontScheme name="Prolifics Font 2">
      <a:majorFont>
        <a:latin typeface="Tahoma 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olifics Brand Template 2022" id="{61BFE15B-CF7C-4A31-A50B-94D83B6567DA}" vid="{14E1EA16-E9EC-4D16-801F-B1AB5BDCB073}"/>
    </a:ext>
  </a:extLst>
</a:theme>
</file>

<file path=ppt/theme/theme2.xml><?xml version="1.0" encoding="utf-8"?>
<a:theme xmlns:a="http://schemas.openxmlformats.org/drawingml/2006/main" name="2_Prolifics Brand Theme 2022">
  <a:themeElements>
    <a:clrScheme name="Prolifics Color Pallat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19917"/>
      </a:accent1>
      <a:accent2>
        <a:srgbClr val="73D313"/>
      </a:accent2>
      <a:accent3>
        <a:srgbClr val="A5A5A5"/>
      </a:accent3>
      <a:accent4>
        <a:srgbClr val="00B0F0"/>
      </a:accent4>
      <a:accent5>
        <a:srgbClr val="0070C0"/>
      </a:accent5>
      <a:accent6>
        <a:srgbClr val="002060"/>
      </a:accent6>
      <a:hlink>
        <a:srgbClr val="002060"/>
      </a:hlink>
      <a:folHlink>
        <a:srgbClr val="0070C0"/>
      </a:folHlink>
    </a:clrScheme>
    <a:fontScheme name="Prolifics Font 2">
      <a:majorFont>
        <a:latin typeface="Tahoma 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olifics Brand Template 2022" id="{61BFE15B-CF7C-4A31-A50B-94D83B6567DA}" vid="{14E1EA16-E9EC-4D16-801F-B1AB5BDCB07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b19593c-01e6-4374-b8e1-87dd68cce7e4" xsi:nil="true"/>
    <lcf76f155ced4ddcb4097134ff3c332f xmlns="59cf2138-ab8b-42a6-ab1c-e4b1429d6e8e">
      <Terms xmlns="http://schemas.microsoft.com/office/infopath/2007/PartnerControls"/>
    </lcf76f155ced4ddcb4097134ff3c332f>
    <folder xmlns="59cf2138-ab8b-42a6-ab1c-e4b1429d6e8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7CE506DF7850042BEA2FB20DD60FF98" ma:contentTypeVersion="16" ma:contentTypeDescription="Create a new document." ma:contentTypeScope="" ma:versionID="f17bf6ec8862d3e2ef1c3ca14ad7a6ea">
  <xsd:schema xmlns:xsd="http://www.w3.org/2001/XMLSchema" xmlns:xs="http://www.w3.org/2001/XMLSchema" xmlns:p="http://schemas.microsoft.com/office/2006/metadata/properties" xmlns:ns2="eb19593c-01e6-4374-b8e1-87dd68cce7e4" xmlns:ns3="59cf2138-ab8b-42a6-ab1c-e4b1429d6e8e" targetNamespace="http://schemas.microsoft.com/office/2006/metadata/properties" ma:root="true" ma:fieldsID="d3642423f26faed56870f77d0a8965bd" ns2:_="" ns3:_="">
    <xsd:import namespace="eb19593c-01e6-4374-b8e1-87dd68cce7e4"/>
    <xsd:import namespace="59cf2138-ab8b-42a6-ab1c-e4b1429d6e8e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fol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19593c-01e6-4374-b8e1-87dd68cce7e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ba37be15-4c8d-44d0-8bbb-21b6439019ac}" ma:internalName="TaxCatchAll" ma:showField="CatchAllData" ma:web="eb19593c-01e6-4374-b8e1-87dd68cce7e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cf2138-ab8b-42a6-ab1c-e4b1429d6e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8015ab51-9e3b-424c-9af6-12bdd7217be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folder" ma:index="23" nillable="true" ma:displayName="folder" ma:format="Dropdown" ma:internalName="folder">
      <xsd:simpleType>
        <xsd:restriction base="dms:Text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AD73441-1E1B-423C-96C0-27CBD50C451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52A1DA3-1E7C-4DD8-9ADB-F29790313BA7}">
  <ds:schemaRefs>
    <ds:schemaRef ds:uri="http://schemas.microsoft.com/office/2006/documentManagement/types"/>
    <ds:schemaRef ds:uri="http://schemas.microsoft.com/office/2006/metadata/properties"/>
    <ds:schemaRef ds:uri="http://purl.org/dc/terms/"/>
    <ds:schemaRef ds:uri="http://purl.org/dc/elements/1.1/"/>
    <ds:schemaRef ds:uri="59cf2138-ab8b-42a6-ab1c-e4b1429d6e8e"/>
    <ds:schemaRef ds:uri="http://schemas.microsoft.com/office/infopath/2007/PartnerControls"/>
    <ds:schemaRef ds:uri="http://schemas.openxmlformats.org/package/2006/metadata/core-properties"/>
    <ds:schemaRef ds:uri="eb19593c-01e6-4374-b8e1-87dd68cce7e4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B2559CB6-8FA4-44E8-BFAC-E0EF77A8833A}">
  <ds:schemaRefs>
    <ds:schemaRef ds:uri="59cf2138-ab8b-42a6-ab1c-e4b1429d6e8e"/>
    <ds:schemaRef ds:uri="eb19593c-01e6-4374-b8e1-87dd68cce7e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13851</TotalTime>
  <Words>8580</Words>
  <Application>Microsoft Office PowerPoint</Application>
  <PresentationFormat>Widescreen</PresentationFormat>
  <Paragraphs>1881</Paragraphs>
  <Slides>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1_Prolifics Brand Theme 2022</vt:lpstr>
      <vt:lpstr>2_Prolifics Brand Theme 2022</vt:lpstr>
      <vt:lpstr>PowerPoint Presentation</vt:lpstr>
      <vt:lpstr>PowerPoint Presentation</vt:lpstr>
      <vt:lpstr>PowerPoint Presentation</vt:lpstr>
      <vt:lpstr>Appendix A – RAG Definitions</vt:lpstr>
    </vt:vector>
  </TitlesOfParts>
  <Company>Windows User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Siddhartha Mutyala</dc:creator>
  <cp:lastModifiedBy>Sindhura Kudaravalli</cp:lastModifiedBy>
  <cp:revision>68</cp:revision>
  <dcterms:created xsi:type="dcterms:W3CDTF">2020-03-11T15:00:19Z</dcterms:created>
  <dcterms:modified xsi:type="dcterms:W3CDTF">2026-04-26T06:20:41Z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0x01010057CE506DF7850042BEA2FB20DD60FF98</vt:lpwstr>
  </property>
  <property fmtid="{D5CDD505-2E9C-101B-9397-08002B2CF9AE}" pid="3" name="MediaServiceImageTags">
    <vt:lpwstr/>
  </property>
</Properties>
</file>